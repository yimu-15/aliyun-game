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世界杯冠军预测 Agent</a:t>
            </a:r>
          </a:p>
          <a:p>
            <a:pPr algn="ctr">
              <a:spcBef>
                <a:spcPts val="1600"/>
              </a:spcBef>
              <a:defRPr sz="2200">
                <a:solidFill>
                  <a:srgbClr val="F0F0F5"/>
                </a:solidFill>
              </a:defRPr>
            </a:pPr>
            <a:r>
              <a:t>可解释 · 可视化 · 全流程自动化</a:t>
            </a:r>
          </a:p>
          <a:p>
            <a:pPr algn="ctr">
              <a:spcBef>
                <a:spcPts val="3000"/>
              </a:spcBef>
              <a:defRPr sz="1400">
                <a:solidFill>
                  <a:srgbClr val="808896"/>
                </a:solidFill>
              </a:defRPr>
            </a:pPr>
            <a:r>
              <a:t>基于五维度评分 + 泊松模型 + 蒙特卡洛模拟的智能预测系统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029200"/>
            <a:ext cx="1463040" cy="365760"/>
          </a:xfrm>
          <a:prstGeom prst="roundRect">
            <a:avLst/>
          </a:prstGeom>
          <a:solidFill>
            <a:srgbClr val="1020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D700"/>
                </a:solidFill>
              </a:defRPr>
            </a:pPr>
            <a:r>
              <a:t>可解释预测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5029200"/>
            <a:ext cx="1463040" cy="365760"/>
          </a:xfrm>
          <a:prstGeom prst="roundRect">
            <a:avLst/>
          </a:prstGeom>
          <a:solidFill>
            <a:srgbClr val="1020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D700"/>
                </a:solidFill>
              </a:defRPr>
            </a:pPr>
            <a:r>
              <a:t>可视化赛程树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5029200"/>
            <a:ext cx="1463040" cy="365760"/>
          </a:xfrm>
          <a:prstGeom prst="roundRect">
            <a:avLst/>
          </a:prstGeom>
          <a:solidFill>
            <a:srgbClr val="1020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D700"/>
                </a:solidFill>
              </a:defRPr>
            </a:pPr>
            <a:r>
              <a:t>真实数据驱动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5029200"/>
            <a:ext cx="1463040" cy="365760"/>
          </a:xfrm>
          <a:prstGeom prst="roundRect">
            <a:avLst/>
          </a:prstGeom>
          <a:solidFill>
            <a:srgbClr val="1020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D700"/>
                </a:solidFill>
              </a:defRPr>
            </a:pPr>
            <a:r>
              <a:t>Qoder 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项目背景与痛点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🎯 黑盒预测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多数AI只给结果</a:t>
            </a:r>
            <a:br/>
            <a:r>
              <a:t>无法解释原因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用户不信任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371600"/>
            <a:ext cx="338328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📊 静态输出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只给冠军</a:t>
            </a:r>
            <a:br/>
            <a:r>
              <a:t>缺动态晋级路径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体验单一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38328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🔗 数据碎片化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历史/排名/球员</a:t>
            </a:r>
            <a:br/>
            <a:r>
              <a:t>数据分散难整合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成本极高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数据支撑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2022世界杯全球观众 50亿+ | 体育预测市场 $1.5B+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'可解释 AI' 是 Gartner 2024 十大战略技术趋势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本方案: 针对性解决三大痛点，打造可解释、可视化、全流程闭环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解决方案总览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486400"/>
            <a:ext cx="3383280" cy="9144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真实数据驱动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6个公开数据源</a:t>
            </a:r>
            <a:br/>
            <a:r>
              <a:t>44K+比赛·64K+排名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5486400"/>
            <a:ext cx="3383280" cy="9144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蒙特卡洛冠军预测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10000次模拟</a:t>
            </a:r>
            <a:br/>
            <a:r>
              <a:t>Wilson 95%CI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486400"/>
            <a:ext cx="3383280" cy="9144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交互式可视化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赛程树·瀑布图</a:t>
            </a:r>
            <a:br/>
            <a:r>
              <a:t>雷达对比·热力图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核心亮点: 可解释预测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五维度因子归因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每场比赛预测拆解为 5 个维度贡献度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瀑布图直观展示: 蓝色=对主队有利, 红色=对客队有利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每个因子可追溯到原始数据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</a:p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示例: 巴西 vs 阿根廷 → 巴西胜率 62%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| 因子 | 巴西 | 阿根廷 | 贡献 |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|------|------|--------|------|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| 近期状态 | 0.85 | 0.55 | +12% |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| FIFA排名 | 0.92 | 0.78 | +6% |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| 历史交锋 | 0.60 | 0.40 | +5% |</a:t>
            </a:r>
          </a:p>
        </p:txBody>
      </p:sp>
      <p:pic>
        <p:nvPicPr>
          <p:cNvPr id="5" name="Picture 4" descr="0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48463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预测引擎 — 四层可解释架构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1005840"/>
          </a:xfrm>
          <a:prstGeom prst="roundRect">
            <a:avLst/>
          </a:prstGeom>
          <a:solidFill>
            <a:srgbClr val="0D3B66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Layer 0: 球队评分引擎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五维度加权: 历史×20% + 排名×30% + 攻防×20% + 球员×15% + 状态×15% → 0-100评分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32720" cy="1005840"/>
          </a:xfrm>
          <a:prstGeom prst="roundRect">
            <a:avLst/>
          </a:prstGeom>
          <a:solidFill>
            <a:srgbClr val="114D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Layer 1: 泊松单场预测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λ = 1.32 × attack(A) × defense(B) × 东道主加成 → P(胜/平/负)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450592"/>
            <a:ext cx="18288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32720" cy="1005840"/>
          </a:xfrm>
          <a:prstGeom prst="roundRect">
            <a:avLst/>
          </a:prstGeom>
          <a:solidFill>
            <a:srgbClr val="155F8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Layer 2: 赛程推演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小组赛(泊松采样→积分→出线) + 淘汰赛(90min→加时×0.33→点球55%)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639311"/>
            <a:ext cx="18288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10332720" cy="1005840"/>
          </a:xfrm>
          <a:prstGeom prst="roundRect">
            <a:avLst/>
          </a:prstGeom>
          <a:solidFill>
            <a:srgbClr val="1971A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Layer 3: 蒙特卡洛聚合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N=10000次模拟 → 夺冠概率 + Wilson 95% 置信区间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828032"/>
            <a:ext cx="18288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系统架构 — 三层设计 + Qoder 工具链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6858000" cy="109728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用户交互层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Streamlit 前端 (5页面) + FastAPI 后端 (REST 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6858000" cy="109728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应用服务层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球队评分 · 泊松预测 · 蒙特卡洛 · 因子归因 · 报告生成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6858000" cy="109728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数据层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Kaggle · Football-Data API · FIFA抓取 · 数据清洗 · 来源追溯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Qoder 工具链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Qoder IDE: 全流程开发环境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QoderWork: 项目管理与协作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Git + GitHub: 版本控制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Docker: 容器化部署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真实数据采集与管理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✅ Kaggle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44K+比赛 · 64K+排名</a:t>
            </a:r>
            <a:br/>
            <a:r>
              <a:t>FIFA官方数据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71600"/>
            <a:ext cx="256032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✅ Football-Data API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48支世界杯球队</a:t>
            </a:r>
            <a:br/>
            <a:r>
              <a:t>实时积分榜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256032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✅ FIFA 官网抓取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最新男足排名</a:t>
            </a:r>
            <a:br/>
            <a:r>
              <a:t>BeautifulSoup解析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371600"/>
            <a:ext cx="256032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✅ 数据融合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current_teams_power.csv</a:t>
            </a:r>
            <a:br/>
            <a:r>
              <a:t>统一格式输出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6个公开数据源，全链路可追溯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每条数据记录来源URL + 下载时间 + SHA256哈希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缺失数据透明标注，优先寻找替代真实来源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冠军预测结果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mp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🏆 Top-3 热门</a:t>
            </a:r>
          </a:p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🥇 阿根廷 21.5%</a:t>
            </a:r>
          </a:p>
          <a:p>
            <a:pPr>
              <a:spcAft>
                <a:spcPts val="600"/>
              </a:spcAft>
              <a:defRPr sz="1600">
                <a:solidFill>
                  <a:srgbClr val="F0F0F5"/>
                </a:solidFill>
              </a:defRPr>
            </a:pPr>
            <a:r>
              <a:t>CI: [20.0%, 23.0%]</a:t>
            </a:r>
          </a:p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🥈 巴西 18.5%</a:t>
            </a:r>
          </a:p>
          <a:p>
            <a:pPr>
              <a:spcAft>
                <a:spcPts val="600"/>
              </a:spcAft>
              <a:defRPr sz="1600">
                <a:solidFill>
                  <a:srgbClr val="F0F0F5"/>
                </a:solidFill>
              </a:defRPr>
            </a:pPr>
            <a:r>
              <a:t>CI: [17.2%, 19.8%]</a:t>
            </a:r>
          </a:p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🥉 法国 14.2%</a:t>
            </a:r>
          </a:p>
          <a:p>
            <a:pPr>
              <a:spcAft>
                <a:spcPts val="600"/>
              </a:spcAft>
              <a:defRPr sz="1600">
                <a:solidFill>
                  <a:srgbClr val="F0F0F5"/>
                </a:solidFill>
              </a:defRPr>
            </a:pPr>
            <a:r>
              <a:t>CI: [13.0%, 15.4%]</a:t>
            </a:r>
          </a:p>
          <a:p>
            <a:pPr>
              <a:spcAft>
                <a:spcPts val="600"/>
              </a:spcAft>
              <a:defRPr sz="1600">
                <a:solidFill>
                  <a:srgbClr val="F0F0F5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0F0F5"/>
                </a:solidFill>
              </a:defRPr>
            </a:pPr>
            <a:r>
              <a:t>蒙特卡洛 10,000次 · Wilson 95%CI · 可复现(seed=42)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核心能力演示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交互式赛程树: 悬停查看详情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评分雷达图: 多队对比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因子瀑布图: 可解释归因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  ▸ 一键刷新: 实时API采集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10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竞品对比与差异化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vs 博彩赔率:</a:t>
            </a:r>
          </a:p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vs 媒体专家:</a:t>
            </a:r>
          </a:p>
          <a:p>
            <a:pPr>
              <a:spcAft>
                <a:spcPts val="600"/>
              </a:spcAft>
              <a:defRPr sz="2800" b="1">
                <a:solidFill>
                  <a:srgbClr val="FFD700"/>
                </a:solidFill>
              </a:defRPr>
            </a:pPr>
            <a:r>
              <a:t>vs AI黑盒: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11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项目亮点总结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🔮 可解释预测 · 🌳 可视化赛程树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📊 真实数据驱动 · ⚡ 完整工具链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🎯 蒙特卡洛可靠性 · 🏆 比赛级输出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12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D700"/>
                </a:solidFill>
              </a:defRPr>
            </a:pPr>
            <a:r>
              <a:t>部署与扩展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🚀 当前部署 (MVP)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阿里云 ECS (2vCPU 4GB)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Docker + docker-compose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Streamlit :8501 + FastAPI :8000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月费 &lt; 200 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☁️ 生产部署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ACK 容器服务 + SLB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OSS存储 + SLS日志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CDN加速 + HTTPS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515600" cy="1828800"/>
          </a:xfrm>
          <a:prstGeom prst="roundRect">
            <a:avLst/>
          </a:prstGeom>
          <a:solidFill>
            <a:srgbClr val="10203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📅 迭代路线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v1.0 MVP: 核心预测 + Streamlit + Docker (已完成)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v1.1 → XGBoost集成 + PPT导出 (2周)</a:t>
            </a:r>
          </a:p>
          <a:p>
            <a:pPr>
              <a:defRPr sz="1300">
                <a:solidFill>
                  <a:srgbClr val="F0F0F5"/>
                </a:solidFill>
              </a:defRPr>
            </a:pPr>
            <a:r>
              <a:t>v2.0 → 多赛事 + SaaS化 (1月)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5"/>
                </a:solidFill>
              </a:defRPr>
            </a:pPr>
            <a:r>
              <a:t>我们不仅预测谁会赢得世界杯</a:t>
            </a:r>
          </a:p>
          <a:p>
            <a:pPr algn="ctr">
              <a:spcBef>
                <a:spcPts val="1600"/>
              </a:spcBef>
              <a:defRPr sz="3600" b="1">
                <a:solidFill>
                  <a:srgbClr val="FFD700"/>
                </a:solidFill>
              </a:defRPr>
            </a:pPr>
            <a:r>
              <a:t>更让每个人理解为什么</a:t>
            </a:r>
          </a:p>
          <a:p>
            <a:pPr algn="ctr">
              <a:spcBef>
                <a:spcPts val="2000"/>
              </a:spcBef>
              <a:defRPr sz="1800">
                <a:solidFill>
                  <a:srgbClr val="808896"/>
                </a:solidFill>
              </a:defRPr>
            </a:pPr>
            <a:r>
              <a:t>🏆 可解释 · 可视化 · 全流程自动化</a:t>
            </a:r>
          </a:p>
          <a:p>
            <a:pPr algn="ctr">
              <a:spcBef>
                <a:spcPts val="3000"/>
              </a:spcBef>
              <a:defRPr sz="1600">
                <a:solidFill>
                  <a:srgbClr val="808896"/>
                </a:solidFill>
              </a:defRPr>
            </a:pPr>
            <a:r>
              <a:t>感谢评委 | 欢迎提问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896"/>
                </a:solidFill>
              </a:defRPr>
            </a:pPr>
            <a:r>
              <a:t>世界杯冠军预测 Agent | 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