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0" y="2286000"/>
            <a:ext cx="1645920" cy="1645920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4572000"/>
            <a:ext cx="2286000" cy="2286000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5029200"/>
            <a:ext cx="1097280" cy="1097280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144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0C040"/>
                </a:solidFill>
              </a:defRPr>
            </a:pPr>
            <a:r>
              <a:t>世界杯冠军预测 Agent</a:t>
            </a:r>
          </a:p>
          <a:p>
            <a:pPr algn="ctr">
              <a:spcBef>
                <a:spcPts val="1600"/>
              </a:spcBef>
              <a:defRPr sz="2200">
                <a:solidFill>
                  <a:srgbClr val="F0F0F0"/>
                </a:solidFill>
              </a:defRPr>
            </a:pPr>
            <a:r>
              <a:t>可解释 · 可视化 · 全流程自动化</a:t>
            </a:r>
          </a:p>
          <a:p>
            <a:pPr algn="ctr">
              <a:spcBef>
                <a:spcPts val="3000"/>
              </a:spcBef>
              <a:defRPr sz="1400">
                <a:solidFill>
                  <a:srgbClr val="9090A0"/>
                </a:solidFill>
              </a:defRPr>
            </a:pPr>
            <a:r>
              <a:t>基于五维度评分 + 泊松模型 + 蒙特卡洛模拟的智能预测系统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5029200"/>
            <a:ext cx="1463040" cy="365760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0C040"/>
                </a:solidFill>
              </a:defRPr>
            </a:pPr>
            <a:r>
              <a:t>可解释预测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5029200"/>
            <a:ext cx="1463040" cy="365760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0C040"/>
                </a:solidFill>
              </a:defRPr>
            </a:pPr>
            <a:r>
              <a:t>可视化赛程树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5029200"/>
            <a:ext cx="1463040" cy="365760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0C040"/>
                </a:solidFill>
              </a:defRPr>
            </a:pPr>
            <a:r>
              <a:t>真实数据驱动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5029200"/>
            <a:ext cx="1463040" cy="365760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0C040"/>
                </a:solidFill>
              </a:defRPr>
            </a:pPr>
            <a:r>
              <a:t>工具链完整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090A0"/>
                </a:solidFill>
              </a:defRPr>
            </a:pPr>
            <a:r>
              <a:t>世界杯冠军预测 Agent | 封面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0F0"/>
                </a:solidFill>
              </a:defRPr>
            </a:pPr>
            <a:r>
              <a:t>📋 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2743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C040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F0F0"/>
                </a:solidFill>
              </a:defRPr>
            </a:pPr>
            <a:r>
              <a:t>项目背景与痛点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A0"/>
                </a:solidFill>
              </a:defRPr>
            </a:pPr>
            <a:r>
              <a:t>世界杯预测市场现状与三大核心痛点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C040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F0F0"/>
                </a:solidFill>
              </a:defRPr>
            </a:pPr>
            <a:r>
              <a:t>解决方案总览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A0"/>
                </a:solidFill>
              </a:defRPr>
            </a:pPr>
            <a:r>
              <a:t>端到端可解释预测智能体架构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C040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68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F0F0"/>
                </a:solidFill>
              </a:defRPr>
            </a:pPr>
            <a:r>
              <a:t>可解释预测引擎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974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A0"/>
                </a:solidFill>
              </a:defRPr>
            </a:pPr>
            <a:r>
              <a:t>五维度评分 + 泊松 + 蒙特卡洛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C040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971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F0F0"/>
                </a:solidFill>
              </a:defRPr>
            </a:pPr>
            <a:r>
              <a:t>系统架构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004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A0"/>
                </a:solidFill>
              </a:defRPr>
            </a:pPr>
            <a:r>
              <a:t>三层架构与数据流设计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C040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474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F0F0"/>
                </a:solidFill>
              </a:defRPr>
            </a:pPr>
            <a:r>
              <a:t>核心能力演示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7033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A0"/>
                </a:solidFill>
              </a:defRPr>
            </a:pPr>
            <a:r>
              <a:t>赛程树 · 评分雷达 · 因子归因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3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C040"/>
                </a:solidFill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F0F0"/>
                </a:solidFill>
              </a:defRPr>
            </a:pPr>
            <a:r>
              <a:t>冠军预测结果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206239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A0"/>
                </a:solidFill>
              </a:defRPr>
            </a:pPr>
            <a:r>
              <a:t>蒙特卡洛 10000 次模拟 + Wilson CI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80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C040"/>
                </a:solidFill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4805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F0F0"/>
                </a:solidFill>
              </a:defRPr>
            </a:pPr>
            <a:r>
              <a:t>工具链与工程化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709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A0"/>
                </a:solidFill>
              </a:defRPr>
            </a:pPr>
            <a:r>
              <a:t>Streamlit + FastAPI + Docker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983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C040"/>
                </a:solidFill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983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F0F0"/>
                </a:solidFill>
              </a:defRPr>
            </a:pPr>
            <a:r>
              <a:t>竞品对比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2120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A0"/>
                </a:solidFill>
              </a:defRPr>
            </a:pPr>
            <a:r>
              <a:t>vs 博彩赔率 / 媒体专家 / AI 黑盒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4864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C040"/>
                </a:solidFill>
              </a:defRPr>
            </a:pPr>
            <a: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486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F0F0"/>
                </a:solidFill>
              </a:defRPr>
            </a:pPr>
            <a:r>
              <a:t>项目亮点总结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7150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A0"/>
                </a:solidFill>
              </a:defRPr>
            </a:pPr>
            <a:r>
              <a:t>可解释 · 可视化 · 真实数据 · 可部署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989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C040"/>
                </a:solidFill>
              </a:defRPr>
            </a:pPr>
            <a: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9893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F0F0"/>
                </a:solidFill>
              </a:defRPr>
            </a:pPr>
            <a:r>
              <a:t>部署与扩展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62179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A0"/>
                </a:solidFill>
              </a:defRPr>
            </a:pPr>
            <a:r>
              <a:t>阿里云 + Docker + 迭代路线图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090A0"/>
                </a:solidFill>
              </a:defRPr>
            </a:pPr>
            <a:r>
              <a:t>世界杯冠军预测 Agent | 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0F0"/>
                </a:solidFill>
              </a:defRPr>
            </a:pPr>
            <a:r>
              <a:t>01  项目背景与痛点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2743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2286000"/>
          </a:xfrm>
          <a:prstGeom prst="roundRect">
            <a:avLst/>
          </a:prstGeom>
          <a:solidFill>
            <a:srgbClr val="14273D"/>
          </a:solidFill>
          <a:ln w="6350">
            <a:solidFill>
              <a:srgbClr val="909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🎯 黑盒预测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多数 AI 预测只给结果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无法解释"为什么 A 队会赢"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缺乏可解释性 → 用户不信任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371600"/>
            <a:ext cx="3383280" cy="2286000"/>
          </a:xfrm>
          <a:prstGeom prst="roundRect">
            <a:avLst/>
          </a:prstGeom>
          <a:solidFill>
            <a:srgbClr val="14273D"/>
          </a:solidFill>
          <a:ln w="6350">
            <a:solidFill>
              <a:srgbClr val="909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📊 静态输出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只给出最终冠军名字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缺少从小组赛到决赛的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完整动态晋级路径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371600"/>
            <a:ext cx="3383280" cy="2286000"/>
          </a:xfrm>
          <a:prstGeom prst="roundRect">
            <a:avLst/>
          </a:prstGeom>
          <a:solidFill>
            <a:srgbClr val="14273D"/>
          </a:solidFill>
          <a:ln w="6350">
            <a:solidFill>
              <a:srgbClr val="909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🔗 数据碎片化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历史战绩、排名、球员数据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分散在不同来源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人工整合成本极高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0C040"/>
                </a:solidFill>
              </a:defRPr>
            </a:pPr>
            <a:r>
              <a:t>数据支撑</a:t>
            </a:r>
          </a:p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2022 世界杯全球观众 50 亿+ | 体育预测市场 $1.5B+</a:t>
            </a:r>
          </a:p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"可解释 AI" 被列为 Gartner 2024 十大战略技术趋势</a:t>
            </a:r>
          </a:p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本方案: 针对性地解决三大痛点，打造可解释、可视化、全流程闭环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090A0"/>
                </a:solidFill>
              </a:defRPr>
            </a:pPr>
            <a:r>
              <a:t>世界杯冠军预测 Agent |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0F0"/>
                </a:solidFill>
              </a:defRPr>
            </a:pPr>
            <a:r>
              <a:t>02  解决方案总览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2743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5669280"/>
            <a:ext cx="3383280" cy="914400"/>
          </a:xfrm>
          <a:prstGeom prst="roundRect">
            <a:avLst/>
          </a:prstGeom>
          <a:solidFill>
            <a:srgbClr val="14273D"/>
          </a:solidFill>
          <a:ln w="6350">
            <a:solidFill>
              <a:srgbClr val="909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真实数据驱动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6 个公开数据源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44K+ 比赛 · 64K+ 排名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5669280"/>
            <a:ext cx="3383280" cy="914400"/>
          </a:xfrm>
          <a:prstGeom prst="roundRect">
            <a:avLst/>
          </a:prstGeom>
          <a:solidFill>
            <a:srgbClr val="14273D"/>
          </a:solidFill>
          <a:ln w="6350">
            <a:solidFill>
              <a:srgbClr val="909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蒙特卡洛冠军预测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10000 次模拟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Wilson 95% 置信区间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5669280"/>
            <a:ext cx="3383280" cy="914400"/>
          </a:xfrm>
          <a:prstGeom prst="roundRect">
            <a:avLst/>
          </a:prstGeom>
          <a:solidFill>
            <a:srgbClr val="14273D"/>
          </a:solidFill>
          <a:ln w="6350">
            <a:solidFill>
              <a:srgbClr val="909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交互式可视化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赛程树 · 因子瀑布图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雷达对比 · 热力图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090A0"/>
                </a:solidFill>
              </a:defRPr>
            </a:pPr>
            <a:r>
              <a:t>世界杯冠军预测 Agent |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0F0"/>
                </a:solidFill>
              </a:defRPr>
            </a:pPr>
            <a:r>
              <a:t>03  可解释预测引擎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2743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edict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13232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1887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0C040"/>
                </a:solidFill>
              </a:defRPr>
            </a:pPr>
            <a:r>
              <a:t>四层可解释架构</a:t>
            </a:r>
          </a:p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Layer 0: 五维度球队评分 (历史+排名+攻防+球员+状态)</a:t>
            </a:r>
          </a:p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Layer 1: 独立泊松单场预测 (λ → 胜/平/负概率)</a:t>
            </a:r>
          </a:p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Layer 2: 赛程推演 (小组赛积分 + 淘汰赛三阶段)</a:t>
            </a:r>
          </a:p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Layer 3: 蒙特卡洛聚合 (N次模拟 → 夺冠概率 + CI)</a:t>
            </a:r>
          </a:p>
          <a:p>
            <a:pPr>
              <a:defRPr sz="1400">
                <a:solidFill>
                  <a:srgbClr val="9090A0"/>
                </a:solidFill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F0C040"/>
                </a:solidFill>
              </a:defRPr>
            </a:pPr>
            <a:r>
              <a:t>关键特性</a:t>
            </a:r>
          </a:p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每一层都是白盒，可独立验证</a:t>
            </a:r>
          </a:p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固定随机种子 (42)，结果完全可复现</a:t>
            </a:r>
          </a:p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三阶段淘汰赛: 90min → 加时×0.33 → 点球55%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090A0"/>
                </a:solidFill>
              </a:defRPr>
            </a:pPr>
            <a:r>
              <a:t>世界杯冠军预测 Agent |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0F0"/>
                </a:solidFill>
              </a:defRPr>
            </a:pPr>
            <a:r>
              <a:t>04  系统架构与数据流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2743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6692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090A0"/>
                </a:solidFill>
              </a:defRPr>
            </a:pPr>
            <a:r>
              <a:t>**技术栈**: Streamlit (前端) + FastAPI (后端) + NumPy/SciPy (模型) + Pandas (数据) + Docker (部署)</a:t>
            </a:r>
          </a:p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数据层对接 Kaggle + FootballData 真实数据源，全链路可追溯</a:t>
            </a:r>
          </a:p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服务层包含评分、预测、模拟、归因四大引擎，模块解耦</a:t>
            </a:r>
          </a:p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交互层提供 5 页面 Streamlit 应用 + REST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090A0"/>
                </a:solidFill>
              </a:defRPr>
            </a:pPr>
            <a:r>
              <a:t>世界杯冠军预测 Agent |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0F0"/>
                </a:solidFill>
              </a:defRPr>
            </a:pPr>
            <a:r>
              <a:t>05  核心能力演示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2743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cket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583680" cy="2743200"/>
          </a:xfrm>
          <a:prstGeom prst="rect">
            <a:avLst/>
          </a:prstGeom>
        </p:spPr>
      </p:pic>
      <p:pic>
        <p:nvPicPr>
          <p:cNvPr id="5" name="Picture 4" descr="radar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188720"/>
            <a:ext cx="4572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1148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**赛程树**: 从 32 强到冠军的完整晋级路径，悬停交互查看详情</a:t>
            </a:r>
          </a:p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**评分雷达**: 五维度多队对比，直观展示优劣势</a:t>
            </a:r>
          </a:p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**因子瀑布图**: 每场预测的可解释归因分析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090A0"/>
                </a:solidFill>
              </a:defRPr>
            </a:pPr>
            <a:r>
              <a:t>世界杯冠军预测 Agent |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0F0"/>
                </a:solidFill>
              </a:defRPr>
            </a:pPr>
            <a:r>
              <a:t>06  冠军预测结果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2743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mp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0C040"/>
                </a:solidFill>
              </a:defRPr>
            </a:pPr>
            <a:r>
              <a:t>Top-3 热门</a:t>
            </a:r>
          </a:p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🥇 阿根廷 21.5%   [CI: 20.7%, 22.3%]</a:t>
            </a:r>
          </a:p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🥈 巴西    18.5%   [CI: 17.8%, 19.2%]</a:t>
            </a:r>
          </a:p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🥉 法国    14.2%   [CI: 13.5%, 14.9%]</a:t>
            </a:r>
          </a:p>
          <a:p>
            <a:pPr>
              <a:defRPr sz="1400">
                <a:solidFill>
                  <a:srgbClr val="9090A0"/>
                </a:solidFill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F0C040"/>
                </a:solidFill>
              </a:defRPr>
            </a:pPr>
            <a:r>
              <a:t>关键指标</a:t>
            </a:r>
          </a:p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蒙特卡洛 10,000 次独立模拟</a:t>
            </a:r>
          </a:p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Wilson Score 95% 置信区间</a:t>
            </a:r>
          </a:p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可复现: 固定随机种子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090A0"/>
                </a:solidFill>
              </a:defRPr>
            </a:pPr>
            <a:r>
              <a:t>世界杯冠军预测 Agent |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0F0"/>
                </a:solidFill>
              </a:defRPr>
            </a:pPr>
            <a:r>
              <a:t>07  工具链与工程化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2743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286000"/>
          </a:xfrm>
          <a:prstGeom prst="roundRect">
            <a:avLst/>
          </a:prstGeom>
          <a:solidFill>
            <a:srgbClr val="14273D"/>
          </a:solidFill>
          <a:ln w="6350">
            <a:solidFill>
              <a:srgbClr val="909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🖥️  前端 (5页面)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Streamlit + Plotly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赛程树 · 雷达图 · 瀑布图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交互式参数调节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303520" cy="2286000"/>
          </a:xfrm>
          <a:prstGeom prst="roundRect">
            <a:avLst/>
          </a:prstGeom>
          <a:solidFill>
            <a:srgbClr val="14273D"/>
          </a:solidFill>
          <a:ln w="6350">
            <a:solidFill>
              <a:srgbClr val="909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🔌  后端 API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FastAPI + Uvicorn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RESTful 5 端点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自动 Swagger 文档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303520" cy="2286000"/>
          </a:xfrm>
          <a:prstGeom prst="roundRect">
            <a:avLst/>
          </a:prstGeom>
          <a:solidFill>
            <a:srgbClr val="14273D"/>
          </a:solidFill>
          <a:ln w="6350">
            <a:solidFill>
              <a:srgbClr val="909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🐳  部署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Docker + docker-compose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阿里云 ECS 一键部署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月费 &lt; 200 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931920"/>
            <a:ext cx="5303520" cy="2286000"/>
          </a:xfrm>
          <a:prstGeom prst="roundRect">
            <a:avLst/>
          </a:prstGeom>
          <a:solidFill>
            <a:srgbClr val="14273D"/>
          </a:solidFill>
          <a:ln w="6350">
            <a:solidFill>
              <a:srgbClr val="909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📦  工程规范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pyproject.toml 依赖管理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单元测试 · CLI 脚本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Git 版本控制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090A0"/>
                </a:solidFill>
              </a:defRPr>
            </a:pPr>
            <a:r>
              <a:t>世界杯冠军预测 Agent |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0F0"/>
                </a:solidFill>
              </a:defRPr>
            </a:pPr>
            <a:r>
              <a:t>08  竞品对比与差异化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2743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1280160"/>
          </a:xfrm>
          <a:prstGeom prst="roundRect">
            <a:avLst/>
          </a:prstGeom>
          <a:solidFill>
            <a:srgbClr val="14273D"/>
          </a:solidFill>
          <a:ln w="6350">
            <a:solidFill>
              <a:srgbClr val="909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博彩网站赔率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痛点: 只给数字，不解释原因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我们的优势: 五维度因子归因 + 瀑布图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5029200" cy="1280160"/>
          </a:xfrm>
          <a:prstGeom prst="roundRect">
            <a:avLst/>
          </a:prstGeom>
          <a:solidFill>
            <a:srgbClr val="14273D"/>
          </a:solidFill>
          <a:ln w="6350">
            <a:solidFill>
              <a:srgbClr val="909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媒体专家预测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痛点: 主观判断，不可复现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我们的优势: 数据驱动 + 固定种子可复现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5029200" cy="1280160"/>
          </a:xfrm>
          <a:prstGeom prst="roundRect">
            <a:avLst/>
          </a:prstGeom>
          <a:solidFill>
            <a:srgbClr val="14273D"/>
          </a:solidFill>
          <a:ln w="6350">
            <a:solidFill>
              <a:srgbClr val="909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AI 黑盒预测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痛点: 无法解释推理过程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我们的优势: 白盒架构，每层可独立验证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0C040"/>
                </a:solidFill>
              </a:defRPr>
            </a:pPr>
            <a:r>
              <a:t>核心壁垒</a:t>
            </a:r>
          </a:p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可解释性: 不是给一个答案，而是让用户理解答案</a:t>
            </a:r>
          </a:p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可视化: 交互式赛程树，竞品无同类产品</a:t>
            </a:r>
          </a:p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完整性: 数据 → 预测 → 可视化 → 报告，全流程闭环</a:t>
            </a:r>
          </a:p>
          <a:p>
            <a:pPr>
              <a:spcAft>
                <a:spcPts val="600"/>
              </a:spcAft>
              <a:defRPr sz="1500">
                <a:solidFill>
                  <a:srgbClr val="F0F0F0"/>
                </a:solidFill>
              </a:defRPr>
            </a:pPr>
            <a:r>
              <a:t>  ▸ 工具链: Qoder + QoderWork 全流程开发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090A0"/>
                </a:solidFill>
              </a:defRPr>
            </a:pPr>
            <a:r>
              <a:t>世界杯冠军预测 Agent |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0F0"/>
                </a:solidFill>
              </a:defRPr>
            </a:pPr>
            <a:r>
              <a:t>09  项目亮点总结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2743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2286000"/>
          </a:xfrm>
          <a:prstGeom prst="roundRect">
            <a:avLst/>
          </a:prstGeom>
          <a:solidFill>
            <a:srgbClr val="14273D"/>
          </a:solidFill>
          <a:ln w="6350">
            <a:solidFill>
              <a:srgbClr val="909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🔮  可解释预测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每场预测拆解为 5 维度因子归因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用户理解"为什么赢"，不是黑盒概率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371600"/>
            <a:ext cx="3383280" cy="2286000"/>
          </a:xfrm>
          <a:prstGeom prst="roundRect">
            <a:avLst/>
          </a:prstGeom>
          <a:solidFill>
            <a:srgbClr val="14273D"/>
          </a:solidFill>
          <a:ln w="6350">
            <a:solidFill>
              <a:srgbClr val="909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🌳  可视化赛程树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从 32 强到冠军，完整晋级路径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悬停交互、缩放、路径高亮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371600"/>
            <a:ext cx="3383280" cy="2286000"/>
          </a:xfrm>
          <a:prstGeom prst="roundRect">
            <a:avLst/>
          </a:prstGeom>
          <a:solidFill>
            <a:srgbClr val="14273D"/>
          </a:solidFill>
          <a:ln w="6350">
            <a:solidFill>
              <a:srgbClr val="909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📊  真实数据驱动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6 个 Kaggle/GitHub 公开数据源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全链路可追溯，支持答辩审计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383280" cy="2286000"/>
          </a:xfrm>
          <a:prstGeom prst="roundRect">
            <a:avLst/>
          </a:prstGeom>
          <a:solidFill>
            <a:srgbClr val="14273D"/>
          </a:solidFill>
          <a:ln w="6350">
            <a:solidFill>
              <a:srgbClr val="909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⚡  完整工具链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pip install → streamlit run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Docker 一键部署，工业级交付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3931920"/>
            <a:ext cx="3383280" cy="2286000"/>
          </a:xfrm>
          <a:prstGeom prst="roundRect">
            <a:avLst/>
          </a:prstGeom>
          <a:solidFill>
            <a:srgbClr val="14273D"/>
          </a:solidFill>
          <a:ln w="6350">
            <a:solidFill>
              <a:srgbClr val="909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🎯  蒙特卡洛可靠性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10000 次模拟 + Wilson 95% CI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固定种子，结果稳定可复现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931920"/>
            <a:ext cx="3383280" cy="2286000"/>
          </a:xfrm>
          <a:prstGeom prst="roundRect">
            <a:avLst/>
          </a:prstGeom>
          <a:solidFill>
            <a:srgbClr val="14273D"/>
          </a:solidFill>
          <a:ln w="6350">
            <a:solidFill>
              <a:srgbClr val="909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🏆  比赛级输出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PPT · 报告 · API · 演示视频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可直接用于路演答辩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090A0"/>
                </a:solidFill>
              </a:defRPr>
            </a:pPr>
            <a:r>
              <a:t>世界杯冠军预测 Agent |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0F0"/>
                </a:solidFill>
              </a:defRPr>
            </a:pPr>
            <a:r>
              <a:t>10  部署与扩展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2743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14273D"/>
          </a:solidFill>
          <a:ln w="6350">
            <a:solidFill>
              <a:srgbClr val="909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🚀 当前部署 (MVP)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阿里云 ECS (2vCPU 4GB)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Docker + docker-compose 一键启动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Streamlit :8501 + FastAPI :8000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月费 &lt; 200 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029200" cy="2286000"/>
          </a:xfrm>
          <a:prstGeom prst="roundRect">
            <a:avLst/>
          </a:prstGeom>
          <a:solidFill>
            <a:srgbClr val="14273D"/>
          </a:solidFill>
          <a:ln w="6350">
            <a:solidFill>
              <a:srgbClr val="909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☁️ 生产部署 (规划)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ACK 容器服务 + SLB 负载均衡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OSS 数据存储 + SLS 日志监控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CDN 加速 + HTTPS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水平扩展 + 自动伸缩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515600" cy="1828800"/>
          </a:xfrm>
          <a:prstGeom prst="roundRect">
            <a:avLst/>
          </a:prstGeom>
          <a:solidFill>
            <a:srgbClr val="14273D"/>
          </a:solidFill>
          <a:ln w="6350">
            <a:solidFill>
              <a:srgbClr val="909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0C040"/>
                </a:solidFill>
              </a:defRPr>
            </a:pPr>
            <a:r>
              <a:t>📅 迭代路线图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v1.0 MVP: 核心预测 + Streamlit + Docker (已完成)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v1.1 → 实时数据 + XGBoost 集成 + PPT 导出 (2周)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v1.2 → 情景分析引擎 + 球员级分析 + 模拟动画 (3周)</a:t>
            </a:r>
          </a:p>
          <a:p>
            <a:pPr>
              <a:spcAft>
                <a:spcPts val="300"/>
              </a:spcAft>
              <a:defRPr sz="1200">
                <a:solidFill>
                  <a:srgbClr val="F0F0F0"/>
                </a:solidFill>
              </a:defRPr>
            </a:pPr>
            <a:r>
              <a:t>v2.0 → 多赛事支持 (欧洲杯/欧冠) + SaaS 化 + LLM Agent (1月)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090A0"/>
                </a:solidFill>
              </a:defRPr>
            </a:pPr>
            <a:r>
              <a:t>世界杯冠军预测 Agent | 12/12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2743200"/>
            <a:ext cx="2286000" cy="2286000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3657600"/>
            <a:ext cx="1828800" cy="1828800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0F0F0"/>
                </a:solidFill>
              </a:defRPr>
            </a:pPr>
            <a:r>
              <a:t>我们不仅预测谁会赢得世界杯</a:t>
            </a:r>
          </a:p>
          <a:p>
            <a:pPr algn="ctr">
              <a:spcBef>
                <a:spcPts val="1600"/>
              </a:spcBef>
              <a:defRPr sz="3600" b="1">
                <a:solidFill>
                  <a:srgbClr val="F0C040"/>
                </a:solidFill>
              </a:defRPr>
            </a:pPr>
            <a:r>
              <a:t>更让每个人理解为什么</a:t>
            </a:r>
          </a:p>
          <a:p>
            <a:pPr algn="ctr">
              <a:spcBef>
                <a:spcPts val="3000"/>
              </a:spcBef>
              <a:defRPr sz="1800">
                <a:solidFill>
                  <a:srgbClr val="9090A0"/>
                </a:solidFill>
              </a:defRPr>
            </a:pPr>
            <a:r>
              <a:t>🏆  可解释 · 可视化 · 全流程自动化</a:t>
            </a:r>
          </a:p>
          <a:p>
            <a:pPr algn="ctr">
              <a:spcBef>
                <a:spcPts val="4000"/>
              </a:spcBef>
              <a:defRPr sz="1600">
                <a:solidFill>
                  <a:srgbClr val="9090A0"/>
                </a:solidFill>
              </a:defRPr>
            </a:pPr>
            <a:r>
              <a:t>感谢评委 | 欢迎提问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090A0"/>
                </a:solidFill>
              </a:defRPr>
            </a:pPr>
            <a:r>
              <a:t>世界杯冠军预测 Agent | 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